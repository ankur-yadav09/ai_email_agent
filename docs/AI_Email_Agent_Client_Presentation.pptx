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(1 min). Your team answers the same balance, transaction and statement emails all day. This agent does the lookup and writes the first draft; your staff only check and press approve. Agenda: problem, how it works, live demo, safety, speed, honest status, what we need from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client to describe their own queue first. Do not quote numbers for their business. The work is repetitive but touches money and identity, so it cannot be left to a chatbot unchecked.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does not decide anything and does not send anything. It does the reading and lookup; a person presses approve. Supported today: balance, recent transactions, statements. Fraud, complaints and unknown requests are handed to a person.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Stress step 5: the language model never writes the reply; it only labels the email. Reply text comes from templates and real data, so a wrong number cannot be hallucinated. Step 6 is a hard gate: the workflow pauses until a reviewer decides.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DEMO HERE (3-4 min). Open the reviewer console at http://localhost:8000/ui. Send a test email (or use scripts/demo.py), show it arrive, open it, point out the detected intent and the draft, then Approve. Also show one fraud email landing in 'Needs a person'. Send one warm-up email before the meeting: a cold model can take up to a minute.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risk and compliance people. Wrong answers are possible with any AI, so the design puts a person between the draft and the customer. Fraud, urgent and unsupported mail never get an automatic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bank's first objection is customer text leaving the building. Be honest about the trade-off: a small local model is less capable than a large cloud model, so the design limits it to classifying, and we recommend measuring accuracy in a pilot. A cloud model can be swapped in later if policy allows.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numbers are measured, not estimated. 84% of the time is the AI classification; banking lookups take about 1.5 s. Be upfront about cold start: the model loads on first use and then stays loaded for 30 minutes. Do not promise GPU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slide for technical audiences. Open http://localhost:6006, project 'email-agent', and show one trace expanded. This is how the accuracy question gets answered in a pilot, with evidence. Connecting LangSmith or Langfuse is supported by the standard but not tested by 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this slide. Say it before they ask. The reviewer step exists because accuracy is unmeasured; the pilot measures it on their own emails. If asked what accuracy to expect: we don't know yet, and anyone quoting a number without testing on your mail is guessing.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promise dates in the meeting; offer to send a plan after their answers on the next slide. Order matters: measure before connecting to real systems.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Ask for a decision on item 4 and a named contact for item 1 before leaving. Q&amp;A answers: docs/INTERVIEW_PREP.md and docs/CASE_STUDY.md.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02F"/>
        </a:solidFill>
        <a:effectLst/>
      </p:bgPr>
    </p:bg>
    <p:spTree>
      <p:nvGrpSpPr>
        <p:cNvPr id="1" name=""/>
        <p:cNvGrpSpPr/>
        <p:nvPr/>
      </p:nvGrpSpPr>
      <p:grpSpPr/>
      <p:sp>
        <p:nvSpPr>
          <p:cNvPr id="2" name="TextBox 1"/>
          <p:cNvSpPr txBox="1"/>
          <p:nvPr/>
        </p:nvSpPr>
        <p:spPr>
          <a:xfrm>
            <a:off x="822960" y="822960"/>
            <a:ext cx="9144000" cy="365760"/>
          </a:xfrm>
          <a:prstGeom prst="rect">
            <a:avLst/>
          </a:prstGeom>
          <a:noFill/>
        </p:spPr>
        <p:txBody>
          <a:bodyPr wrap="square" lIns="0" rIns="0" tIns="0" bIns="0">
            <a:spAutoFit/>
          </a:bodyPr>
          <a:lstStyle/>
          <a:p>
            <a:pPr>
              <a:lnSpc>
                <a:spcPct val="115000"/>
              </a:lnSpc>
            </a:pPr>
            <a:r>
              <a:rPr sz="1400" b="1">
                <a:solidFill>
                  <a:srgbClr val="5FD0C0"/>
                </a:solidFill>
                <a:latin typeface="Arial"/>
              </a:rPr>
              <a:t>CUSTOMER EMAIL AUTOMATION</a:t>
            </a:r>
          </a:p>
        </p:txBody>
      </p:sp>
      <p:sp>
        <p:nvSpPr>
          <p:cNvPr id="3" name="TextBox 2"/>
          <p:cNvSpPr txBox="1"/>
          <p:nvPr/>
        </p:nvSpPr>
        <p:spPr>
          <a:xfrm>
            <a:off x="822960" y="2011680"/>
            <a:ext cx="10058400" cy="2011680"/>
          </a:xfrm>
          <a:prstGeom prst="rect">
            <a:avLst/>
          </a:prstGeom>
          <a:noFill/>
        </p:spPr>
        <p:txBody>
          <a:bodyPr wrap="square" lIns="0" rIns="0" tIns="0" bIns="0">
            <a:spAutoFit/>
          </a:bodyPr>
          <a:lstStyle/>
          <a:p>
            <a:pPr>
              <a:lnSpc>
                <a:spcPct val="100000"/>
              </a:lnSpc>
            </a:pPr>
            <a:r>
              <a:rPr sz="6600" b="1">
                <a:solidFill>
                  <a:srgbClr val="F5F3EE"/>
                </a:solidFill>
                <a:latin typeface="Arial"/>
              </a:rPr>
              <a:t>AI Email Agent
for Bank Support</a:t>
            </a:r>
          </a:p>
        </p:txBody>
      </p:sp>
      <p:sp>
        <p:nvSpPr>
          <p:cNvPr id="4" name="TextBox 3"/>
          <p:cNvSpPr txBox="1"/>
          <p:nvPr/>
        </p:nvSpPr>
        <p:spPr>
          <a:xfrm>
            <a:off x="822960" y="4297680"/>
            <a:ext cx="8686800" cy="1097280"/>
          </a:xfrm>
          <a:prstGeom prst="rect">
            <a:avLst/>
          </a:prstGeom>
          <a:noFill/>
        </p:spPr>
        <p:txBody>
          <a:bodyPr wrap="square" lIns="0" rIns="0" tIns="0" bIns="0">
            <a:spAutoFit/>
          </a:bodyPr>
          <a:lstStyle/>
          <a:p>
            <a:pPr>
              <a:lnSpc>
                <a:spcPct val="115000"/>
              </a:lnSpc>
            </a:pPr>
            <a:r>
              <a:rPr sz="2400" b="0">
                <a:solidFill>
                  <a:srgbClr val="BFD0DC"/>
                </a:solidFill>
                <a:latin typeface="Arial"/>
              </a:rPr>
              <a:t>Reads customer emails, fetches the facts, drafts the reply. A person approves every message.</a:t>
            </a:r>
          </a:p>
        </p:txBody>
      </p:sp>
      <p:sp>
        <p:nvSpPr>
          <p:cNvPr id="5" name="TextBox 4"/>
          <p:cNvSpPr txBox="1"/>
          <p:nvPr/>
        </p:nvSpPr>
        <p:spPr>
          <a:xfrm>
            <a:off x="822960" y="6355080"/>
            <a:ext cx="8229600" cy="274320"/>
          </a:xfrm>
          <a:prstGeom prst="rect">
            <a:avLst/>
          </a:prstGeom>
          <a:noFill/>
        </p:spPr>
        <p:txBody>
          <a:bodyPr wrap="square" lIns="0" rIns="0" tIns="0" bIns="0">
            <a:spAutoFit/>
          </a:bodyPr>
          <a:lstStyle/>
          <a:p>
            <a:pPr>
              <a:lnSpc>
                <a:spcPct val="115000"/>
              </a:lnSpc>
            </a:pPr>
            <a:r>
              <a:rPr sz="1200" b="0">
                <a:solidFill>
                  <a:srgbClr val="8FA5B5"/>
                </a:solidFill>
                <a:latin typeface="Arial"/>
              </a:rPr>
              <a:t>Client briefing · Demo with simulated banking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17695F"/>
                </a:solidFill>
                <a:latin typeface="Arial"/>
              </a:rPr>
              <a:t>THE PROBLEM</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10202F"/>
                </a:solidFill>
                <a:latin typeface="Arial"/>
              </a:rPr>
              <a:t>Routine emails use up skilled staff time</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6A7179"/>
                </a:solidFill>
                <a:latin typeface="Arial"/>
              </a:rPr>
              <a:t>AI Email Agent · 2</a:t>
            </a:r>
          </a:p>
        </p:txBody>
      </p:sp>
      <p:sp>
        <p:nvSpPr>
          <p:cNvPr id="5" name="Rounded Rectangle 4"/>
          <p:cNvSpPr/>
          <p:nvPr/>
        </p:nvSpPr>
        <p:spPr>
          <a:xfrm>
            <a:off x="822960" y="2468880"/>
            <a:ext cx="3368040" cy="301752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743200"/>
            <a:ext cx="2819400" cy="2468879"/>
          </a:xfrm>
          <a:prstGeom prst="rect">
            <a:avLst/>
          </a:prstGeom>
          <a:noFill/>
        </p:spPr>
        <p:txBody>
          <a:bodyPr wrap="square" lIns="0" rIns="0" tIns="0" bIns="0">
            <a:spAutoFit/>
          </a:bodyPr>
          <a:lstStyle/>
          <a:p>
            <a:pPr>
              <a:lnSpc>
                <a:spcPct val="115000"/>
              </a:lnSpc>
            </a:pPr>
            <a:r>
              <a:rPr sz="2400" b="1">
                <a:solidFill>
                  <a:srgbClr val="10202F"/>
                </a:solidFill>
                <a:latin typeface="Arial"/>
              </a:rPr>
              <a:t>Same questions daily</a:t>
            </a:r>
          </a:p>
          <a:p>
            <a:pPr>
              <a:lnSpc>
                <a:spcPct val="115000"/>
              </a:lnSpc>
              <a:spcBef>
                <a:spcPts val="1000"/>
              </a:spcBef>
            </a:pPr>
            <a:r>
              <a:rPr sz="1700" b="0">
                <a:solidFill>
                  <a:srgbClr val="4A5568"/>
                </a:solidFill>
                <a:latin typeface="Arial"/>
              </a:rPr>
              <a:t>Balance, last transactions, statement requests.</a:t>
            </a:r>
          </a:p>
        </p:txBody>
      </p:sp>
      <p:sp>
        <p:nvSpPr>
          <p:cNvPr id="7" name="Rounded Rectangle 6"/>
          <p:cNvSpPr/>
          <p:nvPr/>
        </p:nvSpPr>
        <p:spPr>
          <a:xfrm>
            <a:off x="4419600" y="2468880"/>
            <a:ext cx="3368040" cy="301752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3920" y="2743200"/>
            <a:ext cx="2819400" cy="2468879"/>
          </a:xfrm>
          <a:prstGeom prst="rect">
            <a:avLst/>
          </a:prstGeom>
          <a:noFill/>
        </p:spPr>
        <p:txBody>
          <a:bodyPr wrap="square" lIns="0" rIns="0" tIns="0" bIns="0">
            <a:spAutoFit/>
          </a:bodyPr>
          <a:lstStyle/>
          <a:p>
            <a:pPr>
              <a:lnSpc>
                <a:spcPct val="115000"/>
              </a:lnSpc>
            </a:pPr>
            <a:r>
              <a:rPr sz="2400" b="1">
                <a:solidFill>
                  <a:srgbClr val="10202F"/>
                </a:solidFill>
                <a:latin typeface="Arial"/>
              </a:rPr>
              <a:t>Every reply needs lookups</a:t>
            </a:r>
          </a:p>
          <a:p>
            <a:pPr>
              <a:lnSpc>
                <a:spcPct val="115000"/>
              </a:lnSpc>
              <a:spcBef>
                <a:spcPts val="1000"/>
              </a:spcBef>
            </a:pPr>
            <a:r>
              <a:rPr sz="1700" b="0">
                <a:solidFill>
                  <a:srgbClr val="4A5568"/>
                </a:solidFill>
                <a:latin typeface="Arial"/>
              </a:rPr>
              <a:t>Find the customer, open the system, copy the numbers, write the reply.</a:t>
            </a:r>
          </a:p>
        </p:txBody>
      </p:sp>
      <p:sp>
        <p:nvSpPr>
          <p:cNvPr id="9" name="Rounded Rectangle 8"/>
          <p:cNvSpPr/>
          <p:nvPr/>
        </p:nvSpPr>
        <p:spPr>
          <a:xfrm>
            <a:off x="8016240" y="2468880"/>
            <a:ext cx="3368040" cy="301752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90560" y="2743200"/>
            <a:ext cx="2819400" cy="2468879"/>
          </a:xfrm>
          <a:prstGeom prst="rect">
            <a:avLst/>
          </a:prstGeom>
          <a:noFill/>
        </p:spPr>
        <p:txBody>
          <a:bodyPr wrap="square" lIns="0" rIns="0" tIns="0" bIns="0">
            <a:spAutoFit/>
          </a:bodyPr>
          <a:lstStyle/>
          <a:p>
            <a:pPr>
              <a:lnSpc>
                <a:spcPct val="115000"/>
              </a:lnSpc>
            </a:pPr>
            <a:r>
              <a:rPr sz="2400" b="1">
                <a:solidFill>
                  <a:srgbClr val="10202F"/>
                </a:solidFill>
                <a:latin typeface="Arial"/>
              </a:rPr>
              <a:t>Mistakes are costly</a:t>
            </a:r>
          </a:p>
          <a:p>
            <a:pPr>
              <a:lnSpc>
                <a:spcPct val="115000"/>
              </a:lnSpc>
              <a:spcBef>
                <a:spcPts val="1000"/>
              </a:spcBef>
            </a:pPr>
            <a:r>
              <a:rPr sz="1700" b="0">
                <a:solidFill>
                  <a:srgbClr val="4A5568"/>
                </a:solidFill>
                <a:latin typeface="Arial"/>
              </a:rPr>
              <a:t>A wrong account, or an urgent fraud report buried in the queue.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02F"/>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5FD0C0"/>
                </a:solidFill>
                <a:latin typeface="Arial"/>
              </a:rPr>
              <a:t>THE SOLUTION</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F5F3EE"/>
                </a:solidFill>
                <a:latin typeface="Arial"/>
              </a:rPr>
              <a:t>The agent prepares. Your staff decide.</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8FA5B5"/>
                </a:solidFill>
                <a:latin typeface="Arial"/>
              </a:rPr>
              <a:t>AI Email Agent · 3</a:t>
            </a:r>
          </a:p>
        </p:txBody>
      </p:sp>
      <p:sp>
        <p:nvSpPr>
          <p:cNvPr id="5" name="Rounded Rectangle 4"/>
          <p:cNvSpPr/>
          <p:nvPr/>
        </p:nvSpPr>
        <p:spPr>
          <a:xfrm>
            <a:off x="822960" y="2468880"/>
            <a:ext cx="2468880" cy="301752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743200"/>
            <a:ext cx="1920240" cy="2468879"/>
          </a:xfrm>
          <a:prstGeom prst="rect">
            <a:avLst/>
          </a:prstGeom>
          <a:noFill/>
        </p:spPr>
        <p:txBody>
          <a:bodyPr wrap="square" lIns="0" rIns="0" tIns="0" bIns="0">
            <a:spAutoFit/>
          </a:bodyPr>
          <a:lstStyle/>
          <a:p>
            <a:pPr>
              <a:lnSpc>
                <a:spcPct val="115000"/>
              </a:lnSpc>
            </a:pPr>
            <a:r>
              <a:rPr sz="2400" b="1">
                <a:solidFill>
                  <a:srgbClr val="F5F3EE"/>
                </a:solidFill>
                <a:latin typeface="Arial"/>
              </a:rPr>
              <a:t>Reads</a:t>
            </a:r>
          </a:p>
          <a:p>
            <a:pPr>
              <a:lnSpc>
                <a:spcPct val="115000"/>
              </a:lnSpc>
              <a:spcBef>
                <a:spcPts val="1000"/>
              </a:spcBef>
            </a:pPr>
            <a:r>
              <a:rPr sz="1600" b="0">
                <a:solidFill>
                  <a:srgbClr val="BFD0DC"/>
                </a:solidFill>
                <a:latin typeface="Arial"/>
              </a:rPr>
              <a:t>Gmail, an email folder or an API. PDFs and scanned images too.</a:t>
            </a:r>
          </a:p>
        </p:txBody>
      </p:sp>
      <p:sp>
        <p:nvSpPr>
          <p:cNvPr id="7" name="Rounded Rectangle 6"/>
          <p:cNvSpPr/>
          <p:nvPr/>
        </p:nvSpPr>
        <p:spPr>
          <a:xfrm>
            <a:off x="3520440" y="2468880"/>
            <a:ext cx="2468880" cy="301752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60" y="2743200"/>
            <a:ext cx="1920240" cy="2468879"/>
          </a:xfrm>
          <a:prstGeom prst="rect">
            <a:avLst/>
          </a:prstGeom>
          <a:noFill/>
        </p:spPr>
        <p:txBody>
          <a:bodyPr wrap="square" lIns="0" rIns="0" tIns="0" bIns="0">
            <a:spAutoFit/>
          </a:bodyPr>
          <a:lstStyle/>
          <a:p>
            <a:pPr>
              <a:lnSpc>
                <a:spcPct val="115000"/>
              </a:lnSpc>
            </a:pPr>
            <a:r>
              <a:rPr sz="2400" b="1">
                <a:solidFill>
                  <a:srgbClr val="F5F3EE"/>
                </a:solidFill>
                <a:latin typeface="Arial"/>
              </a:rPr>
              <a:t>Understands</a:t>
            </a:r>
          </a:p>
          <a:p>
            <a:pPr>
              <a:lnSpc>
                <a:spcPct val="115000"/>
              </a:lnSpc>
              <a:spcBef>
                <a:spcPts val="1000"/>
              </a:spcBef>
            </a:pPr>
            <a:r>
              <a:rPr sz="1600" b="0">
                <a:solidFill>
                  <a:srgbClr val="BFD0DC"/>
                </a:solidFill>
                <a:latin typeface="Arial"/>
              </a:rPr>
              <a:t>What is asked, how urgent, which account or card.</a:t>
            </a:r>
          </a:p>
        </p:txBody>
      </p:sp>
      <p:sp>
        <p:nvSpPr>
          <p:cNvPr id="9" name="Rounded Rectangle 8"/>
          <p:cNvSpPr/>
          <p:nvPr/>
        </p:nvSpPr>
        <p:spPr>
          <a:xfrm>
            <a:off x="6217920" y="2468880"/>
            <a:ext cx="2468880" cy="301752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743200"/>
            <a:ext cx="1920240" cy="2468879"/>
          </a:xfrm>
          <a:prstGeom prst="rect">
            <a:avLst/>
          </a:prstGeom>
          <a:noFill/>
        </p:spPr>
        <p:txBody>
          <a:bodyPr wrap="square" lIns="0" rIns="0" tIns="0" bIns="0">
            <a:spAutoFit/>
          </a:bodyPr>
          <a:lstStyle/>
          <a:p>
            <a:pPr>
              <a:lnSpc>
                <a:spcPct val="115000"/>
              </a:lnSpc>
            </a:pPr>
            <a:r>
              <a:rPr sz="2400" b="1">
                <a:solidFill>
                  <a:srgbClr val="F5F3EE"/>
                </a:solidFill>
                <a:latin typeface="Arial"/>
              </a:rPr>
              <a:t>Looks up</a:t>
            </a:r>
          </a:p>
          <a:p>
            <a:pPr>
              <a:lnSpc>
                <a:spcPct val="115000"/>
              </a:lnSpc>
              <a:spcBef>
                <a:spcPts val="1000"/>
              </a:spcBef>
            </a:pPr>
            <a:r>
              <a:rPr sz="1600" b="0">
                <a:solidFill>
                  <a:srgbClr val="BFD0DC"/>
                </a:solidFill>
                <a:latin typeface="Arial"/>
              </a:rPr>
              <a:t>Balances, transactions and statements from the banking system.</a:t>
            </a:r>
          </a:p>
        </p:txBody>
      </p:sp>
      <p:sp>
        <p:nvSpPr>
          <p:cNvPr id="11" name="Rounded Rectangle 10"/>
          <p:cNvSpPr/>
          <p:nvPr/>
        </p:nvSpPr>
        <p:spPr>
          <a:xfrm>
            <a:off x="8915400" y="2468880"/>
            <a:ext cx="2468880" cy="301752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89720" y="2743200"/>
            <a:ext cx="1920240" cy="2468879"/>
          </a:xfrm>
          <a:prstGeom prst="rect">
            <a:avLst/>
          </a:prstGeom>
          <a:noFill/>
        </p:spPr>
        <p:txBody>
          <a:bodyPr wrap="square" lIns="0" rIns="0" tIns="0" bIns="0">
            <a:spAutoFit/>
          </a:bodyPr>
          <a:lstStyle/>
          <a:p>
            <a:pPr>
              <a:lnSpc>
                <a:spcPct val="115000"/>
              </a:lnSpc>
            </a:pPr>
            <a:r>
              <a:rPr sz="2400" b="1">
                <a:solidFill>
                  <a:srgbClr val="F5F3EE"/>
                </a:solidFill>
                <a:latin typeface="Arial"/>
              </a:rPr>
              <a:t>Drafts</a:t>
            </a:r>
          </a:p>
          <a:p>
            <a:pPr>
              <a:lnSpc>
                <a:spcPct val="115000"/>
              </a:lnSpc>
              <a:spcBef>
                <a:spcPts val="1000"/>
              </a:spcBef>
            </a:pPr>
            <a:r>
              <a:rPr sz="1600" b="0">
                <a:solidFill>
                  <a:srgbClr val="BFD0DC"/>
                </a:solidFill>
                <a:latin typeface="Arial"/>
              </a:rPr>
              <a:t>A ready reply. A person approves, edits or rejects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17695F"/>
                </a:solidFill>
                <a:latin typeface="Arial"/>
              </a:rPr>
              <a:t>HOW IT WORKS</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10202F"/>
                </a:solidFill>
                <a:latin typeface="Arial"/>
              </a:rPr>
              <a:t>From inbox to approved reply in six steps</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6A7179"/>
                </a:solidFill>
                <a:latin typeface="Arial"/>
              </a:rPr>
              <a:t>AI Email Agent · 4</a:t>
            </a:r>
          </a:p>
        </p:txBody>
      </p:sp>
      <p:sp>
        <p:nvSpPr>
          <p:cNvPr id="5" name="Rounded Rectangle 4"/>
          <p:cNvSpPr/>
          <p:nvPr/>
        </p:nvSpPr>
        <p:spPr>
          <a:xfrm>
            <a:off x="822960" y="2377440"/>
            <a:ext cx="1645920" cy="237744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651760"/>
            <a:ext cx="1097280" cy="1828800"/>
          </a:xfrm>
          <a:prstGeom prst="rect">
            <a:avLst/>
          </a:prstGeom>
          <a:noFill/>
        </p:spPr>
        <p:txBody>
          <a:bodyPr wrap="square" lIns="0" rIns="0" tIns="0" bIns="0">
            <a:spAutoFit/>
          </a:bodyPr>
          <a:lstStyle/>
          <a:p>
            <a:pPr>
              <a:lnSpc>
                <a:spcPct val="115000"/>
              </a:lnSpc>
            </a:pPr>
            <a:r>
              <a:rPr sz="1700" b="1">
                <a:solidFill>
                  <a:srgbClr val="10202F"/>
                </a:solidFill>
                <a:latin typeface="Arial"/>
              </a:rPr>
              <a:t>1  Email arrives</a:t>
            </a:r>
          </a:p>
          <a:p>
            <a:pPr>
              <a:lnSpc>
                <a:spcPct val="115000"/>
              </a:lnSpc>
              <a:spcBef>
                <a:spcPts val="1000"/>
              </a:spcBef>
            </a:pPr>
            <a:r>
              <a:rPr sz="1400" b="0">
                <a:solidFill>
                  <a:srgbClr val="4A5568"/>
                </a:solidFill>
                <a:latin typeface="Arial"/>
              </a:rPr>
              <a:t>Only recent mail is read.</a:t>
            </a:r>
          </a:p>
        </p:txBody>
      </p:sp>
      <p:sp>
        <p:nvSpPr>
          <p:cNvPr id="7" name="Rounded Rectangle 6"/>
          <p:cNvSpPr/>
          <p:nvPr/>
        </p:nvSpPr>
        <p:spPr>
          <a:xfrm>
            <a:off x="2606040" y="2377440"/>
            <a:ext cx="1645920" cy="237744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2651760"/>
            <a:ext cx="1097280" cy="1828800"/>
          </a:xfrm>
          <a:prstGeom prst="rect">
            <a:avLst/>
          </a:prstGeom>
          <a:noFill/>
        </p:spPr>
        <p:txBody>
          <a:bodyPr wrap="square" lIns="0" rIns="0" tIns="0" bIns="0">
            <a:spAutoFit/>
          </a:bodyPr>
          <a:lstStyle/>
          <a:p>
            <a:pPr>
              <a:lnSpc>
                <a:spcPct val="115000"/>
              </a:lnSpc>
            </a:pPr>
            <a:r>
              <a:rPr sz="1700" b="1">
                <a:solidFill>
                  <a:srgbClr val="10202F"/>
                </a:solidFill>
                <a:latin typeface="Arial"/>
              </a:rPr>
              <a:t>2  Verify sender</a:t>
            </a:r>
          </a:p>
          <a:p>
            <a:pPr>
              <a:lnSpc>
                <a:spcPct val="115000"/>
              </a:lnSpc>
              <a:spcBef>
                <a:spcPts val="1000"/>
              </a:spcBef>
            </a:pPr>
            <a:r>
              <a:rPr sz="1400" b="0">
                <a:solidFill>
                  <a:srgbClr val="4A5568"/>
                </a:solidFill>
                <a:latin typeface="Arial"/>
              </a:rPr>
              <a:t>Matched to a customer record.</a:t>
            </a:r>
          </a:p>
        </p:txBody>
      </p:sp>
      <p:sp>
        <p:nvSpPr>
          <p:cNvPr id="9" name="Rounded Rectangle 8"/>
          <p:cNvSpPr/>
          <p:nvPr/>
        </p:nvSpPr>
        <p:spPr>
          <a:xfrm>
            <a:off x="4389120" y="2377440"/>
            <a:ext cx="1645920" cy="237744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651760"/>
            <a:ext cx="1097280" cy="1828800"/>
          </a:xfrm>
          <a:prstGeom prst="rect">
            <a:avLst/>
          </a:prstGeom>
          <a:noFill/>
        </p:spPr>
        <p:txBody>
          <a:bodyPr wrap="square" lIns="0" rIns="0" tIns="0" bIns="0">
            <a:spAutoFit/>
          </a:bodyPr>
          <a:lstStyle/>
          <a:p>
            <a:pPr>
              <a:lnSpc>
                <a:spcPct val="115000"/>
              </a:lnSpc>
            </a:pPr>
            <a:r>
              <a:rPr sz="1700" b="1">
                <a:solidFill>
                  <a:srgbClr val="10202F"/>
                </a:solidFill>
                <a:latin typeface="Arial"/>
              </a:rPr>
              <a:t>3  Understand</a:t>
            </a:r>
          </a:p>
          <a:p>
            <a:pPr>
              <a:lnSpc>
                <a:spcPct val="115000"/>
              </a:lnSpc>
              <a:spcBef>
                <a:spcPts val="1000"/>
              </a:spcBef>
            </a:pPr>
            <a:r>
              <a:rPr sz="1400" b="0">
                <a:solidFill>
                  <a:srgbClr val="4A5568"/>
                </a:solidFill>
                <a:latin typeface="Arial"/>
              </a:rPr>
              <a:t>Local AI finds intent and urgency.</a:t>
            </a:r>
          </a:p>
        </p:txBody>
      </p:sp>
      <p:sp>
        <p:nvSpPr>
          <p:cNvPr id="11" name="Rounded Rectangle 10"/>
          <p:cNvSpPr/>
          <p:nvPr/>
        </p:nvSpPr>
        <p:spPr>
          <a:xfrm>
            <a:off x="6172200" y="2377440"/>
            <a:ext cx="1645920" cy="237744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651760"/>
            <a:ext cx="1097280" cy="1828800"/>
          </a:xfrm>
          <a:prstGeom prst="rect">
            <a:avLst/>
          </a:prstGeom>
          <a:noFill/>
        </p:spPr>
        <p:txBody>
          <a:bodyPr wrap="square" lIns="0" rIns="0" tIns="0" bIns="0">
            <a:spAutoFit/>
          </a:bodyPr>
          <a:lstStyle/>
          <a:p>
            <a:pPr>
              <a:lnSpc>
                <a:spcPct val="115000"/>
              </a:lnSpc>
            </a:pPr>
            <a:r>
              <a:rPr sz="1700" b="1">
                <a:solidFill>
                  <a:srgbClr val="10202F"/>
                </a:solidFill>
                <a:latin typeface="Arial"/>
              </a:rPr>
              <a:t>4  Fetch data</a:t>
            </a:r>
          </a:p>
          <a:p>
            <a:pPr>
              <a:lnSpc>
                <a:spcPct val="115000"/>
              </a:lnSpc>
              <a:spcBef>
                <a:spcPts val="1000"/>
              </a:spcBef>
            </a:pPr>
            <a:r>
              <a:rPr sz="1400" b="0">
                <a:solidFill>
                  <a:srgbClr val="4A5568"/>
                </a:solidFill>
                <a:latin typeface="Arial"/>
              </a:rPr>
              <a:t>Read-only banking tools.</a:t>
            </a:r>
          </a:p>
        </p:txBody>
      </p:sp>
      <p:sp>
        <p:nvSpPr>
          <p:cNvPr id="13" name="Rounded Rectangle 12"/>
          <p:cNvSpPr/>
          <p:nvPr/>
        </p:nvSpPr>
        <p:spPr>
          <a:xfrm>
            <a:off x="7955279" y="2377440"/>
            <a:ext cx="1645920" cy="237744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651760"/>
            <a:ext cx="1097280" cy="1828800"/>
          </a:xfrm>
          <a:prstGeom prst="rect">
            <a:avLst/>
          </a:prstGeom>
          <a:noFill/>
        </p:spPr>
        <p:txBody>
          <a:bodyPr wrap="square" lIns="0" rIns="0" tIns="0" bIns="0">
            <a:spAutoFit/>
          </a:bodyPr>
          <a:lstStyle/>
          <a:p>
            <a:pPr>
              <a:lnSpc>
                <a:spcPct val="115000"/>
              </a:lnSpc>
            </a:pPr>
            <a:r>
              <a:rPr sz="1700" b="1">
                <a:solidFill>
                  <a:srgbClr val="10202F"/>
                </a:solidFill>
                <a:latin typeface="Arial"/>
              </a:rPr>
              <a:t>5  Draft reply</a:t>
            </a:r>
          </a:p>
          <a:p>
            <a:pPr>
              <a:lnSpc>
                <a:spcPct val="115000"/>
              </a:lnSpc>
              <a:spcBef>
                <a:spcPts val="1000"/>
              </a:spcBef>
            </a:pPr>
            <a:r>
              <a:rPr sz="1400" b="0">
                <a:solidFill>
                  <a:srgbClr val="4A5568"/>
                </a:solidFill>
                <a:latin typeface="Arial"/>
              </a:rPr>
              <a:t>Built from fixed templates.</a:t>
            </a:r>
          </a:p>
        </p:txBody>
      </p:sp>
      <p:sp>
        <p:nvSpPr>
          <p:cNvPr id="15" name="Rounded Rectangle 14"/>
          <p:cNvSpPr/>
          <p:nvPr/>
        </p:nvSpPr>
        <p:spPr>
          <a:xfrm>
            <a:off x="9738360" y="2377440"/>
            <a:ext cx="1645920" cy="237744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12680" y="2651760"/>
            <a:ext cx="1097280" cy="1828800"/>
          </a:xfrm>
          <a:prstGeom prst="rect">
            <a:avLst/>
          </a:prstGeom>
          <a:noFill/>
        </p:spPr>
        <p:txBody>
          <a:bodyPr wrap="square" lIns="0" rIns="0" tIns="0" bIns="0">
            <a:spAutoFit/>
          </a:bodyPr>
          <a:lstStyle/>
          <a:p>
            <a:pPr>
              <a:lnSpc>
                <a:spcPct val="115000"/>
              </a:lnSpc>
            </a:pPr>
            <a:r>
              <a:rPr sz="1700" b="1">
                <a:solidFill>
                  <a:srgbClr val="10202F"/>
                </a:solidFill>
                <a:latin typeface="Arial"/>
              </a:rPr>
              <a:t>6  Human review</a:t>
            </a:r>
          </a:p>
          <a:p>
            <a:pPr>
              <a:lnSpc>
                <a:spcPct val="115000"/>
              </a:lnSpc>
              <a:spcBef>
                <a:spcPts val="1000"/>
              </a:spcBef>
            </a:pPr>
            <a:r>
              <a:rPr sz="1400" b="0">
                <a:solidFill>
                  <a:srgbClr val="4A5568"/>
                </a:solidFill>
                <a:latin typeface="Arial"/>
              </a:rPr>
              <a:t>Approve, edit or reject. Then it is sent.</a:t>
            </a:r>
          </a:p>
        </p:txBody>
      </p:sp>
      <p:sp>
        <p:nvSpPr>
          <p:cNvPr id="17" name="TextBox 16"/>
          <p:cNvSpPr txBox="1"/>
          <p:nvPr/>
        </p:nvSpPr>
        <p:spPr>
          <a:xfrm>
            <a:off x="822960" y="5212080"/>
            <a:ext cx="10515600" cy="731520"/>
          </a:xfrm>
          <a:prstGeom prst="rect">
            <a:avLst/>
          </a:prstGeom>
          <a:noFill/>
        </p:spPr>
        <p:txBody>
          <a:bodyPr wrap="square" lIns="0" rIns="0" tIns="0" bIns="0">
            <a:spAutoFit/>
          </a:bodyPr>
          <a:lstStyle/>
          <a:p>
            <a:pPr>
              <a:lnSpc>
                <a:spcPct val="115000"/>
              </a:lnSpc>
            </a:pPr>
            <a:r>
              <a:rPr sz="2000" b="0">
                <a:solidFill>
                  <a:srgbClr val="4A5568"/>
                </a:solidFill>
                <a:latin typeface="Arial"/>
              </a:rPr>
              <a:t>The AI only classifies. The words of the reply come from templates, so it cannot invent numbers.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02F"/>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5FD0C0"/>
                </a:solidFill>
                <a:latin typeface="Arial"/>
              </a:rPr>
              <a:t>EXAMPLE (ILLUSTRATIVE)</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F5F3EE"/>
                </a:solidFill>
                <a:latin typeface="Arial"/>
              </a:rPr>
              <a:t>One email, one draft</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8FA5B5"/>
                </a:solidFill>
                <a:latin typeface="Arial"/>
              </a:rPr>
              <a:t>AI Email Agent · 5</a:t>
            </a:r>
          </a:p>
        </p:txBody>
      </p:sp>
      <p:sp>
        <p:nvSpPr>
          <p:cNvPr id="5" name="Rounded Rectangle 4"/>
          <p:cNvSpPr/>
          <p:nvPr/>
        </p:nvSpPr>
        <p:spPr>
          <a:xfrm>
            <a:off x="822960" y="2286000"/>
            <a:ext cx="5166360" cy="310896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60320"/>
            <a:ext cx="4663440" cy="2743200"/>
          </a:xfrm>
          <a:prstGeom prst="rect">
            <a:avLst/>
          </a:prstGeom>
          <a:noFill/>
        </p:spPr>
        <p:txBody>
          <a:bodyPr wrap="square" lIns="0" rIns="0" tIns="0" bIns="0">
            <a:spAutoFit/>
          </a:bodyPr>
          <a:lstStyle/>
          <a:p>
            <a:pPr>
              <a:lnSpc>
                <a:spcPct val="115000"/>
              </a:lnSpc>
            </a:pPr>
            <a:r>
              <a:rPr sz="1200" b="1">
                <a:solidFill>
                  <a:srgbClr val="8FA5B5"/>
                </a:solidFill>
                <a:latin typeface="Arial"/>
              </a:rPr>
              <a:t>CUSTOMER WRITES</a:t>
            </a:r>
          </a:p>
          <a:p>
            <a:pPr>
              <a:lnSpc>
                <a:spcPct val="115000"/>
              </a:lnSpc>
              <a:spcBef>
                <a:spcPts val="1200"/>
              </a:spcBef>
            </a:pPr>
            <a:r>
              <a:rPr sz="1800" b="0">
                <a:solidFill>
                  <a:srgbClr val="F5F3EE"/>
                </a:solidFill>
                <a:latin typeface="Arial"/>
              </a:rPr>
              <a:t>Subject: Balance and last transactions
Hello, please share the balance of my account XXXX7890 and the last 3 transactions.</a:t>
            </a:r>
          </a:p>
        </p:txBody>
      </p:sp>
      <p:sp>
        <p:nvSpPr>
          <p:cNvPr id="7" name="Rounded Rectangle 6"/>
          <p:cNvSpPr/>
          <p:nvPr/>
        </p:nvSpPr>
        <p:spPr>
          <a:xfrm>
            <a:off x="6217920" y="2286000"/>
            <a:ext cx="5166360" cy="3108960"/>
          </a:xfrm>
          <a:prstGeom prst="roundRect">
            <a:avLst>
              <a:gd name="adj" fmla="val 6000"/>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560320"/>
            <a:ext cx="4663440" cy="2743200"/>
          </a:xfrm>
          <a:prstGeom prst="rect">
            <a:avLst/>
          </a:prstGeom>
          <a:noFill/>
        </p:spPr>
        <p:txBody>
          <a:bodyPr wrap="square" lIns="0" rIns="0" tIns="0" bIns="0">
            <a:spAutoFit/>
          </a:bodyPr>
          <a:lstStyle/>
          <a:p>
            <a:pPr>
              <a:lnSpc>
                <a:spcPct val="115000"/>
              </a:lnSpc>
            </a:pPr>
            <a:r>
              <a:rPr sz="1200" b="1">
                <a:solidFill>
                  <a:srgbClr val="17695F"/>
                </a:solidFill>
                <a:latin typeface="Arial"/>
              </a:rPr>
              <a:t>DRAFT WAITING FOR REVIEW</a:t>
            </a:r>
          </a:p>
          <a:p>
            <a:pPr>
              <a:lnSpc>
                <a:spcPct val="115000"/>
              </a:lnSpc>
              <a:spcBef>
                <a:spcPts val="1200"/>
              </a:spcBef>
            </a:pPr>
            <a:r>
              <a:rPr sz="1800" b="0">
                <a:solidFill>
                  <a:srgbClr val="10202F"/>
                </a:solidFill>
                <a:latin typeface="Arial"/>
              </a:rPr>
              <a:t>Subject: Re: Balance and last transactions
Dear [customer name],
The balance of account XXXX7890 is [amount]. Your last 3 transactions are listed below: [date, description, amount].</a:t>
            </a:r>
          </a:p>
        </p:txBody>
      </p:sp>
      <p:sp>
        <p:nvSpPr>
          <p:cNvPr id="9" name="TextBox 8"/>
          <p:cNvSpPr txBox="1"/>
          <p:nvPr/>
        </p:nvSpPr>
        <p:spPr>
          <a:xfrm>
            <a:off x="822960" y="5715000"/>
            <a:ext cx="10515600" cy="365760"/>
          </a:xfrm>
          <a:prstGeom prst="rect">
            <a:avLst/>
          </a:prstGeom>
          <a:noFill/>
        </p:spPr>
        <p:txBody>
          <a:bodyPr wrap="square" lIns="0" rIns="0" tIns="0" bIns="0">
            <a:spAutoFit/>
          </a:bodyPr>
          <a:lstStyle/>
          <a:p>
            <a:pPr>
              <a:lnSpc>
                <a:spcPct val="115000"/>
              </a:lnSpc>
            </a:pPr>
            <a:r>
              <a:rPr sz="1500" b="0">
                <a:solidFill>
                  <a:srgbClr val="BFD0DC"/>
                </a:solidFill>
                <a:latin typeface="Arial"/>
              </a:rPr>
              <a:t>Brackets stand for values read from the banking system. Demo data is simulated.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17695F"/>
                </a:solidFill>
                <a:latin typeface="Arial"/>
              </a:rPr>
              <a:t>SAFETY</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10202F"/>
                </a:solidFill>
                <a:latin typeface="Arial"/>
              </a:rPr>
              <a:t>A person stays in control</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6A7179"/>
                </a:solidFill>
                <a:latin typeface="Arial"/>
              </a:rPr>
              <a:t>AI Email Agent · 6</a:t>
            </a:r>
          </a:p>
        </p:txBody>
      </p:sp>
      <p:sp>
        <p:nvSpPr>
          <p:cNvPr id="5" name="Rounded Rectangle 4"/>
          <p:cNvSpPr/>
          <p:nvPr/>
        </p:nvSpPr>
        <p:spPr>
          <a:xfrm>
            <a:off x="822960" y="2286000"/>
            <a:ext cx="3368040" cy="178308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60320"/>
            <a:ext cx="2819400" cy="1234440"/>
          </a:xfrm>
          <a:prstGeom prst="rect">
            <a:avLst/>
          </a:prstGeom>
          <a:noFill/>
        </p:spPr>
        <p:txBody>
          <a:bodyPr wrap="square" lIns="0" rIns="0" tIns="0" bIns="0">
            <a:spAutoFit/>
          </a:bodyPr>
          <a:lstStyle/>
          <a:p>
            <a:pPr>
              <a:lnSpc>
                <a:spcPct val="115000"/>
              </a:lnSpc>
            </a:pPr>
            <a:r>
              <a:rPr sz="1800" b="1">
                <a:solidFill>
                  <a:srgbClr val="10202F"/>
                </a:solidFill>
                <a:latin typeface="Arial"/>
              </a:rPr>
              <a:t>Approval before sending</a:t>
            </a:r>
          </a:p>
          <a:p>
            <a:pPr>
              <a:lnSpc>
                <a:spcPct val="115000"/>
              </a:lnSpc>
              <a:spcBef>
                <a:spcPts val="1000"/>
              </a:spcBef>
            </a:pPr>
            <a:r>
              <a:rPr sz="1400" b="0">
                <a:solidFill>
                  <a:srgbClr val="4A5568"/>
                </a:solidFill>
                <a:latin typeface="Arial"/>
              </a:rPr>
              <a:t>Only approved drafts are emailed. Nothing goes out on its own.</a:t>
            </a:r>
          </a:p>
        </p:txBody>
      </p:sp>
      <p:sp>
        <p:nvSpPr>
          <p:cNvPr id="7" name="Rounded Rectangle 6"/>
          <p:cNvSpPr/>
          <p:nvPr/>
        </p:nvSpPr>
        <p:spPr>
          <a:xfrm>
            <a:off x="4419600" y="2286000"/>
            <a:ext cx="3368040" cy="178308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3920" y="2560320"/>
            <a:ext cx="2819400" cy="1234440"/>
          </a:xfrm>
          <a:prstGeom prst="rect">
            <a:avLst/>
          </a:prstGeom>
          <a:noFill/>
        </p:spPr>
        <p:txBody>
          <a:bodyPr wrap="square" lIns="0" rIns="0" tIns="0" bIns="0">
            <a:spAutoFit/>
          </a:bodyPr>
          <a:lstStyle/>
          <a:p>
            <a:pPr>
              <a:lnSpc>
                <a:spcPct val="115000"/>
              </a:lnSpc>
            </a:pPr>
            <a:r>
              <a:rPr sz="1800" b="1">
                <a:solidFill>
                  <a:srgbClr val="10202F"/>
                </a:solidFill>
                <a:latin typeface="Arial"/>
              </a:rPr>
              <a:t>Fraud goes to a person</a:t>
            </a:r>
          </a:p>
          <a:p>
            <a:pPr>
              <a:lnSpc>
                <a:spcPct val="115000"/>
              </a:lnSpc>
              <a:spcBef>
                <a:spcPts val="1000"/>
              </a:spcBef>
            </a:pPr>
            <a:r>
              <a:rPr sz="1400" b="0">
                <a:solidFill>
                  <a:srgbClr val="4A5568"/>
                </a:solidFill>
                <a:latin typeface="Arial"/>
              </a:rPr>
              <a:t>Urgent, fraud and unsupported requests get no automatic answer.</a:t>
            </a:r>
          </a:p>
        </p:txBody>
      </p:sp>
      <p:sp>
        <p:nvSpPr>
          <p:cNvPr id="9" name="Rounded Rectangle 8"/>
          <p:cNvSpPr/>
          <p:nvPr/>
        </p:nvSpPr>
        <p:spPr>
          <a:xfrm>
            <a:off x="8016240" y="2286000"/>
            <a:ext cx="3368040" cy="178308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90560" y="2560320"/>
            <a:ext cx="2819400" cy="1234440"/>
          </a:xfrm>
          <a:prstGeom prst="rect">
            <a:avLst/>
          </a:prstGeom>
          <a:noFill/>
        </p:spPr>
        <p:txBody>
          <a:bodyPr wrap="square" lIns="0" rIns="0" tIns="0" bIns="0">
            <a:spAutoFit/>
          </a:bodyPr>
          <a:lstStyle/>
          <a:p>
            <a:pPr>
              <a:lnSpc>
                <a:spcPct val="115000"/>
              </a:lnSpc>
            </a:pPr>
            <a:r>
              <a:rPr sz="1800" b="1">
                <a:solidFill>
                  <a:srgbClr val="10202F"/>
                </a:solidFill>
                <a:latin typeface="Arial"/>
              </a:rPr>
              <a:t>Sender is verified</a:t>
            </a:r>
          </a:p>
          <a:p>
            <a:pPr>
              <a:lnSpc>
                <a:spcPct val="115000"/>
              </a:lnSpc>
              <a:spcBef>
                <a:spcPts val="1000"/>
              </a:spcBef>
            </a:pPr>
            <a:r>
              <a:rPr sz="1400" b="0">
                <a:solidFill>
                  <a:srgbClr val="4A5568"/>
                </a:solidFill>
                <a:latin typeface="Arial"/>
              </a:rPr>
              <a:t>Matched to a customer, with email authentication checks (DKIM, SPF).</a:t>
            </a:r>
          </a:p>
        </p:txBody>
      </p:sp>
      <p:sp>
        <p:nvSpPr>
          <p:cNvPr id="11" name="Rounded Rectangle 10"/>
          <p:cNvSpPr/>
          <p:nvPr/>
        </p:nvSpPr>
        <p:spPr>
          <a:xfrm>
            <a:off x="822960" y="4251960"/>
            <a:ext cx="3368040" cy="178308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526280"/>
            <a:ext cx="2819400" cy="1234440"/>
          </a:xfrm>
          <a:prstGeom prst="rect">
            <a:avLst/>
          </a:prstGeom>
          <a:noFill/>
        </p:spPr>
        <p:txBody>
          <a:bodyPr wrap="square" lIns="0" rIns="0" tIns="0" bIns="0">
            <a:spAutoFit/>
          </a:bodyPr>
          <a:lstStyle/>
          <a:p>
            <a:pPr>
              <a:lnSpc>
                <a:spcPct val="115000"/>
              </a:lnSpc>
            </a:pPr>
            <a:r>
              <a:rPr sz="1800" b="1">
                <a:solidFill>
                  <a:srgbClr val="10202F"/>
                </a:solidFill>
                <a:latin typeface="Arial"/>
              </a:rPr>
              <a:t>Masked audit log</a:t>
            </a:r>
          </a:p>
          <a:p>
            <a:pPr>
              <a:lnSpc>
                <a:spcPct val="115000"/>
              </a:lnSpc>
              <a:spcBef>
                <a:spcPts val="1000"/>
              </a:spcBef>
            </a:pPr>
            <a:r>
              <a:rPr sz="1400" b="0">
                <a:solidFill>
                  <a:srgbClr val="4A5568"/>
                </a:solidFill>
                <a:latin typeface="Arial"/>
              </a:rPr>
              <a:t>Every step is recorded. Account and card numbers are masked.</a:t>
            </a:r>
          </a:p>
        </p:txBody>
      </p:sp>
      <p:sp>
        <p:nvSpPr>
          <p:cNvPr id="13" name="Rounded Rectangle 12"/>
          <p:cNvSpPr/>
          <p:nvPr/>
        </p:nvSpPr>
        <p:spPr>
          <a:xfrm>
            <a:off x="4419600" y="4251960"/>
            <a:ext cx="3368040" cy="178308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3920" y="4526280"/>
            <a:ext cx="2819400" cy="1234440"/>
          </a:xfrm>
          <a:prstGeom prst="rect">
            <a:avLst/>
          </a:prstGeom>
          <a:noFill/>
        </p:spPr>
        <p:txBody>
          <a:bodyPr wrap="square" lIns="0" rIns="0" tIns="0" bIns="0">
            <a:spAutoFit/>
          </a:bodyPr>
          <a:lstStyle/>
          <a:p>
            <a:pPr>
              <a:lnSpc>
                <a:spcPct val="115000"/>
              </a:lnSpc>
            </a:pPr>
            <a:r>
              <a:rPr sz="1800" b="1">
                <a:solidFill>
                  <a:srgbClr val="10202F"/>
                </a:solidFill>
                <a:latin typeface="Arial"/>
              </a:rPr>
              <a:t>Protected console</a:t>
            </a:r>
          </a:p>
          <a:p>
            <a:pPr>
              <a:lnSpc>
                <a:spcPct val="115000"/>
              </a:lnSpc>
              <a:spcBef>
                <a:spcPts val="1000"/>
              </a:spcBef>
            </a:pPr>
            <a:r>
              <a:rPr sz="1400" b="0">
                <a:solidFill>
                  <a:srgbClr val="4A5568"/>
                </a:solidFill>
                <a:latin typeface="Arial"/>
              </a:rPr>
              <a:t>The reviewer screen needs a secret token.</a:t>
            </a:r>
          </a:p>
        </p:txBody>
      </p:sp>
      <p:sp>
        <p:nvSpPr>
          <p:cNvPr id="15" name="Rounded Rectangle 14"/>
          <p:cNvSpPr/>
          <p:nvPr/>
        </p:nvSpPr>
        <p:spPr>
          <a:xfrm>
            <a:off x="8016240" y="4251960"/>
            <a:ext cx="3368040" cy="178308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4526280"/>
            <a:ext cx="2819400" cy="1234440"/>
          </a:xfrm>
          <a:prstGeom prst="rect">
            <a:avLst/>
          </a:prstGeom>
          <a:noFill/>
        </p:spPr>
        <p:txBody>
          <a:bodyPr wrap="square" lIns="0" rIns="0" tIns="0" bIns="0">
            <a:spAutoFit/>
          </a:bodyPr>
          <a:lstStyle/>
          <a:p>
            <a:pPr>
              <a:lnSpc>
                <a:spcPct val="115000"/>
              </a:lnSpc>
            </a:pPr>
            <a:r>
              <a:rPr sz="1800" b="1">
                <a:solidFill>
                  <a:srgbClr val="10202F"/>
                </a:solidFill>
                <a:latin typeface="Arial"/>
              </a:rPr>
              <a:t>No mail loops</a:t>
            </a:r>
          </a:p>
          <a:p>
            <a:pPr>
              <a:lnSpc>
                <a:spcPct val="115000"/>
              </a:lnSpc>
              <a:spcBef>
                <a:spcPts val="1000"/>
              </a:spcBef>
            </a:pPr>
            <a:r>
              <a:rPr sz="1400" b="0">
                <a:solidFill>
                  <a:srgbClr val="4A5568"/>
                </a:solidFill>
                <a:latin typeface="Arial"/>
              </a:rPr>
              <a:t>Its own mail is ignored and each message is handled once.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02F"/>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5FD0C0"/>
                </a:solidFill>
                <a:latin typeface="Arial"/>
              </a:rPr>
              <a:t>PRIVACY</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F5F3EE"/>
                </a:solidFill>
                <a:latin typeface="Arial"/>
              </a:rPr>
              <a:t>Customer data stays on your servers</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8FA5B5"/>
                </a:solidFill>
                <a:latin typeface="Arial"/>
              </a:rPr>
              <a:t>AI Email Agent · 7</a:t>
            </a:r>
          </a:p>
        </p:txBody>
      </p:sp>
      <p:sp>
        <p:nvSpPr>
          <p:cNvPr id="5" name="TextBox 4"/>
          <p:cNvSpPr txBox="1"/>
          <p:nvPr/>
        </p:nvSpPr>
        <p:spPr>
          <a:xfrm>
            <a:off x="822960" y="2651760"/>
            <a:ext cx="3657600" cy="1463040"/>
          </a:xfrm>
          <a:prstGeom prst="rect">
            <a:avLst/>
          </a:prstGeom>
          <a:noFill/>
        </p:spPr>
        <p:txBody>
          <a:bodyPr wrap="square" lIns="0" rIns="0" tIns="0" bIns="0">
            <a:spAutoFit/>
          </a:bodyPr>
          <a:lstStyle/>
          <a:p>
            <a:pPr>
              <a:lnSpc>
                <a:spcPct val="100000"/>
              </a:lnSpc>
            </a:pPr>
            <a:r>
              <a:rPr sz="11000" b="1">
                <a:solidFill>
                  <a:srgbClr val="5FD0C0"/>
                </a:solidFill>
                <a:latin typeface="Arial"/>
              </a:rPr>
              <a:t>0</a:t>
            </a:r>
          </a:p>
        </p:txBody>
      </p:sp>
      <p:sp>
        <p:nvSpPr>
          <p:cNvPr id="6" name="TextBox 5"/>
          <p:cNvSpPr txBox="1"/>
          <p:nvPr/>
        </p:nvSpPr>
        <p:spPr>
          <a:xfrm>
            <a:off x="822960" y="4297680"/>
            <a:ext cx="3474720" cy="914400"/>
          </a:xfrm>
          <a:prstGeom prst="rect">
            <a:avLst/>
          </a:prstGeom>
          <a:noFill/>
        </p:spPr>
        <p:txBody>
          <a:bodyPr wrap="square" lIns="0" rIns="0" tIns="0" bIns="0">
            <a:spAutoFit/>
          </a:bodyPr>
          <a:lstStyle/>
          <a:p>
            <a:pPr>
              <a:lnSpc>
                <a:spcPct val="115000"/>
              </a:lnSpc>
            </a:pPr>
            <a:r>
              <a:rPr sz="2000" b="0">
                <a:solidFill>
                  <a:srgbClr val="BFD0DC"/>
                </a:solidFill>
                <a:latin typeface="Arial"/>
              </a:rPr>
              <a:t>customer emails sent to an outside AI service</a:t>
            </a:r>
          </a:p>
        </p:txBody>
      </p:sp>
      <p:sp>
        <p:nvSpPr>
          <p:cNvPr id="7" name="TextBox 6"/>
          <p:cNvSpPr txBox="1"/>
          <p:nvPr/>
        </p:nvSpPr>
        <p:spPr>
          <a:xfrm>
            <a:off x="4937760" y="2743200"/>
            <a:ext cx="6400800" cy="2926080"/>
          </a:xfrm>
          <a:prstGeom prst="rect">
            <a:avLst/>
          </a:prstGeom>
          <a:noFill/>
        </p:spPr>
        <p:txBody>
          <a:bodyPr wrap="square" lIns="0" rIns="0" tIns="0" bIns="0">
            <a:spAutoFit/>
          </a:bodyPr>
          <a:lstStyle/>
          <a:p>
            <a:pPr>
              <a:lnSpc>
                <a:spcPct val="115000"/>
              </a:lnSpc>
            </a:pPr>
            <a:r>
              <a:rPr sz="2200" b="0">
                <a:solidFill>
                  <a:srgbClr val="F5F3EE"/>
                </a:solidFill>
                <a:latin typeface="Arial"/>
              </a:rPr>
              <a:t>•  The AI model (Llama 3.2) runs on your own machine</a:t>
            </a:r>
          </a:p>
          <a:p>
            <a:pPr>
              <a:lnSpc>
                <a:spcPct val="115000"/>
              </a:lnSpc>
              <a:spcBef>
                <a:spcPts val="1400"/>
              </a:spcBef>
            </a:pPr>
            <a:r>
              <a:rPr sz="2200" b="0">
                <a:solidFill>
                  <a:srgbClr val="F5F3EE"/>
                </a:solidFill>
                <a:latin typeface="Arial"/>
              </a:rPr>
              <a:t>•  Runs in Docker, as a non-privileged user</a:t>
            </a:r>
          </a:p>
          <a:p>
            <a:pPr>
              <a:lnSpc>
                <a:spcPct val="115000"/>
              </a:lnSpc>
              <a:spcBef>
                <a:spcPts val="1400"/>
              </a:spcBef>
            </a:pPr>
            <a:r>
              <a:rPr sz="2200" b="0">
                <a:solidFill>
                  <a:srgbClr val="F5F3EE"/>
                </a:solidFill>
                <a:latin typeface="Arial"/>
              </a:rPr>
              <a:t>•  Tracing is off by default and records no email text</a:t>
            </a:r>
          </a:p>
          <a:p>
            <a:pPr>
              <a:lnSpc>
                <a:spcPct val="115000"/>
              </a:lnSpc>
              <a:spcBef>
                <a:spcPts val="1400"/>
              </a:spcBef>
            </a:pPr>
            <a:r>
              <a:rPr sz="2200" b="0">
                <a:solidFill>
                  <a:srgbClr val="F5F3EE"/>
                </a:solidFill>
                <a:latin typeface="Arial"/>
              </a:rPr>
              <a:t>•  Passwords stay in a private settings file, never in the code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17695F"/>
                </a:solidFill>
                <a:latin typeface="Arial"/>
              </a:rPr>
              <a:t>SPEED (MEASURED)</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10202F"/>
                </a:solidFill>
                <a:latin typeface="Arial"/>
              </a:rPr>
              <a:t>A draft in about seven seconds</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6A7179"/>
                </a:solidFill>
                <a:latin typeface="Arial"/>
              </a:rPr>
              <a:t>AI Email Agent · 8</a:t>
            </a:r>
          </a:p>
        </p:txBody>
      </p:sp>
      <p:sp>
        <p:nvSpPr>
          <p:cNvPr id="5" name="Rounded Rectangle 4"/>
          <p:cNvSpPr/>
          <p:nvPr/>
        </p:nvSpPr>
        <p:spPr>
          <a:xfrm>
            <a:off x="822960" y="2286000"/>
            <a:ext cx="3368040" cy="265176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60320"/>
            <a:ext cx="2819400" cy="2194560"/>
          </a:xfrm>
          <a:prstGeom prst="rect">
            <a:avLst/>
          </a:prstGeom>
          <a:noFill/>
        </p:spPr>
        <p:txBody>
          <a:bodyPr wrap="square" lIns="0" rIns="0" tIns="0" bIns="0">
            <a:spAutoFit/>
          </a:bodyPr>
          <a:lstStyle/>
          <a:p>
            <a:pPr>
              <a:lnSpc>
                <a:spcPct val="115000"/>
              </a:lnSpc>
            </a:pPr>
            <a:r>
              <a:rPr sz="5000" b="1">
                <a:solidFill>
                  <a:srgbClr val="17695F"/>
                </a:solidFill>
                <a:latin typeface="Arial"/>
              </a:rPr>
              <a:t>7.4 s</a:t>
            </a:r>
          </a:p>
          <a:p>
            <a:pPr>
              <a:lnSpc>
                <a:spcPct val="115000"/>
              </a:lnSpc>
              <a:spcBef>
                <a:spcPts val="1200"/>
              </a:spcBef>
            </a:pPr>
            <a:r>
              <a:rPr sz="1700" b="0">
                <a:solidFill>
                  <a:srgbClr val="4A5568"/>
                </a:solidFill>
                <a:latin typeface="Arial"/>
              </a:rPr>
              <a:t>median from arrival to draft (range 5.0 to 11.1 s)</a:t>
            </a:r>
          </a:p>
        </p:txBody>
      </p:sp>
      <p:sp>
        <p:nvSpPr>
          <p:cNvPr id="7" name="Rounded Rectangle 6"/>
          <p:cNvSpPr/>
          <p:nvPr/>
        </p:nvSpPr>
        <p:spPr>
          <a:xfrm>
            <a:off x="4419600" y="2286000"/>
            <a:ext cx="3368040" cy="265176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3920" y="2560320"/>
            <a:ext cx="2819400" cy="2194560"/>
          </a:xfrm>
          <a:prstGeom prst="rect">
            <a:avLst/>
          </a:prstGeom>
          <a:noFill/>
        </p:spPr>
        <p:txBody>
          <a:bodyPr wrap="square" lIns="0" rIns="0" tIns="0" bIns="0">
            <a:spAutoFit/>
          </a:bodyPr>
          <a:lstStyle/>
          <a:p>
            <a:pPr>
              <a:lnSpc>
                <a:spcPct val="115000"/>
              </a:lnSpc>
            </a:pPr>
            <a:r>
              <a:rPr sz="5000" b="1">
                <a:solidFill>
                  <a:srgbClr val="17695F"/>
                </a:solidFill>
                <a:latin typeface="Arial"/>
              </a:rPr>
              <a:t>~480</a:t>
            </a:r>
          </a:p>
          <a:p>
            <a:pPr>
              <a:lnSpc>
                <a:spcPct val="115000"/>
              </a:lnSpc>
              <a:spcBef>
                <a:spcPts val="1200"/>
              </a:spcBef>
            </a:pPr>
            <a:r>
              <a:rPr sz="1700" b="0">
                <a:solidFill>
                  <a:srgbClr val="4A5568"/>
                </a:solidFill>
                <a:latin typeface="Arial"/>
              </a:rPr>
              <a:t>emails per hour from one worker</a:t>
            </a:r>
          </a:p>
        </p:txBody>
      </p:sp>
      <p:sp>
        <p:nvSpPr>
          <p:cNvPr id="9" name="Rounded Rectangle 8"/>
          <p:cNvSpPr/>
          <p:nvPr/>
        </p:nvSpPr>
        <p:spPr>
          <a:xfrm>
            <a:off x="8016240" y="2286000"/>
            <a:ext cx="3368040" cy="265176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90560" y="2560320"/>
            <a:ext cx="2819400" cy="2194560"/>
          </a:xfrm>
          <a:prstGeom prst="rect">
            <a:avLst/>
          </a:prstGeom>
          <a:noFill/>
        </p:spPr>
        <p:txBody>
          <a:bodyPr wrap="square" lIns="0" rIns="0" tIns="0" bIns="0">
            <a:spAutoFit/>
          </a:bodyPr>
          <a:lstStyle/>
          <a:p>
            <a:pPr>
              <a:lnSpc>
                <a:spcPct val="115000"/>
              </a:lnSpc>
            </a:pPr>
            <a:r>
              <a:rPr sz="5000" b="1">
                <a:solidFill>
                  <a:srgbClr val="17695F"/>
                </a:solidFill>
                <a:latin typeface="Arial"/>
              </a:rPr>
              <a:t>20–58 s</a:t>
            </a:r>
          </a:p>
          <a:p>
            <a:pPr>
              <a:lnSpc>
                <a:spcPct val="115000"/>
              </a:lnSpc>
              <a:spcBef>
                <a:spcPts val="1200"/>
              </a:spcBef>
            </a:pPr>
            <a:r>
              <a:rPr sz="1700" b="0">
                <a:solidFill>
                  <a:srgbClr val="4A5568"/>
                </a:solidFill>
                <a:latin typeface="Arial"/>
              </a:rPr>
              <a:t>for the first email after the model has been idle</a:t>
            </a:r>
          </a:p>
        </p:txBody>
      </p:sp>
      <p:sp>
        <p:nvSpPr>
          <p:cNvPr id="11" name="TextBox 10"/>
          <p:cNvSpPr txBox="1"/>
          <p:nvPr/>
        </p:nvSpPr>
        <p:spPr>
          <a:xfrm>
            <a:off x="822960" y="5303520"/>
            <a:ext cx="10515600" cy="731520"/>
          </a:xfrm>
          <a:prstGeom prst="rect">
            <a:avLst/>
          </a:prstGeom>
          <a:noFill/>
        </p:spPr>
        <p:txBody>
          <a:bodyPr wrap="square" lIns="0" rIns="0" tIns="0" bIns="0">
            <a:spAutoFit/>
          </a:bodyPr>
          <a:lstStyle/>
          <a:p>
            <a:pPr>
              <a:lnSpc>
                <a:spcPct val="115000"/>
              </a:lnSpc>
            </a:pPr>
            <a:r>
              <a:rPr sz="1600" b="0">
                <a:solidFill>
                  <a:srgbClr val="4A5568"/>
                </a:solidFill>
                <a:latin typeface="Arial"/>
              </a:rPr>
              <a:t>Measured on a laptop processor with the small model. A server with a GPU is expected to be faster; we have not measured that yet.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02F"/>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5FD0C0"/>
                </a:solidFill>
                <a:latin typeface="Arial"/>
              </a:rPr>
              <a:t>MONITORING</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F5F3EE"/>
                </a:solidFill>
                <a:latin typeface="Arial"/>
              </a:rPr>
              <a:t>Every email can be traced step by step</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8FA5B5"/>
                </a:solidFill>
                <a:latin typeface="Arial"/>
              </a:rPr>
              <a:t>AI Email Agent · 9</a:t>
            </a:r>
          </a:p>
        </p:txBody>
      </p:sp>
      <p:sp>
        <p:nvSpPr>
          <p:cNvPr id="5" name="Rounded Rectangle 4"/>
          <p:cNvSpPr/>
          <p:nvPr/>
        </p:nvSpPr>
        <p:spPr>
          <a:xfrm>
            <a:off x="822960" y="2286000"/>
            <a:ext cx="3368040" cy="246888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60320"/>
            <a:ext cx="2819400" cy="1920240"/>
          </a:xfrm>
          <a:prstGeom prst="rect">
            <a:avLst/>
          </a:prstGeom>
          <a:noFill/>
        </p:spPr>
        <p:txBody>
          <a:bodyPr wrap="square" lIns="0" rIns="0" tIns="0" bIns="0">
            <a:spAutoFit/>
          </a:bodyPr>
          <a:lstStyle/>
          <a:p>
            <a:pPr>
              <a:lnSpc>
                <a:spcPct val="115000"/>
              </a:lnSpc>
            </a:pPr>
            <a:r>
              <a:rPr sz="2200" b="1">
                <a:solidFill>
                  <a:srgbClr val="F5F3EE"/>
                </a:solidFill>
                <a:latin typeface="Arial"/>
              </a:rPr>
              <a:t>Where the time goes</a:t>
            </a:r>
          </a:p>
          <a:p>
            <a:pPr>
              <a:lnSpc>
                <a:spcPct val="115000"/>
              </a:lnSpc>
              <a:spcBef>
                <a:spcPts val="1000"/>
              </a:spcBef>
            </a:pPr>
            <a:r>
              <a:rPr sz="1600" b="0">
                <a:solidFill>
                  <a:srgbClr val="BFD0DC"/>
                </a:solidFill>
                <a:latin typeface="Arial"/>
              </a:rPr>
              <a:t>Model load, thinking time and each banking lookup, per email.</a:t>
            </a:r>
          </a:p>
        </p:txBody>
      </p:sp>
      <p:sp>
        <p:nvSpPr>
          <p:cNvPr id="7" name="Rounded Rectangle 6"/>
          <p:cNvSpPr/>
          <p:nvPr/>
        </p:nvSpPr>
        <p:spPr>
          <a:xfrm>
            <a:off x="4419600" y="2286000"/>
            <a:ext cx="3368040" cy="246888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3920" y="2560320"/>
            <a:ext cx="2819400" cy="1920240"/>
          </a:xfrm>
          <a:prstGeom prst="rect">
            <a:avLst/>
          </a:prstGeom>
          <a:noFill/>
        </p:spPr>
        <p:txBody>
          <a:bodyPr wrap="square" lIns="0" rIns="0" tIns="0" bIns="0">
            <a:spAutoFit/>
          </a:bodyPr>
          <a:lstStyle/>
          <a:p>
            <a:pPr>
              <a:lnSpc>
                <a:spcPct val="115000"/>
              </a:lnSpc>
            </a:pPr>
            <a:r>
              <a:rPr sz="2200" b="1">
                <a:solidFill>
                  <a:srgbClr val="F5F3EE"/>
                </a:solidFill>
                <a:latin typeface="Arial"/>
              </a:rPr>
              <a:t>What it decided</a:t>
            </a:r>
          </a:p>
          <a:p>
            <a:pPr>
              <a:lnSpc>
                <a:spcPct val="115000"/>
              </a:lnSpc>
              <a:spcBef>
                <a:spcPts val="1000"/>
              </a:spcBef>
            </a:pPr>
            <a:r>
              <a:rPr sz="1600" b="0">
                <a:solidFill>
                  <a:srgbClr val="BFD0DC"/>
                </a:solidFill>
                <a:latin typeface="Arial"/>
              </a:rPr>
              <a:t>Detected requests, urgency, tools called, failures.</a:t>
            </a:r>
          </a:p>
        </p:txBody>
      </p:sp>
      <p:sp>
        <p:nvSpPr>
          <p:cNvPr id="9" name="Rounded Rectangle 8"/>
          <p:cNvSpPr/>
          <p:nvPr/>
        </p:nvSpPr>
        <p:spPr>
          <a:xfrm>
            <a:off x="8016240" y="2286000"/>
            <a:ext cx="3368040" cy="246888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90560" y="2560320"/>
            <a:ext cx="2819400" cy="1920240"/>
          </a:xfrm>
          <a:prstGeom prst="rect">
            <a:avLst/>
          </a:prstGeom>
          <a:noFill/>
        </p:spPr>
        <p:txBody>
          <a:bodyPr wrap="square" lIns="0" rIns="0" tIns="0" bIns="0">
            <a:spAutoFit/>
          </a:bodyPr>
          <a:lstStyle/>
          <a:p>
            <a:pPr>
              <a:lnSpc>
                <a:spcPct val="115000"/>
              </a:lnSpc>
            </a:pPr>
            <a:r>
              <a:rPr sz="2200" b="1">
                <a:solidFill>
                  <a:srgbClr val="F5F3EE"/>
                </a:solidFill>
                <a:latin typeface="Arial"/>
              </a:rPr>
              <a:t>How good the draft was</a:t>
            </a:r>
          </a:p>
          <a:p>
            <a:pPr>
              <a:lnSpc>
                <a:spcPct val="115000"/>
              </a:lnSpc>
              <a:spcBef>
                <a:spcPts val="1000"/>
              </a:spcBef>
            </a:pPr>
            <a:r>
              <a:rPr sz="1600" b="0">
                <a:solidFill>
                  <a:srgbClr val="BFD0DC"/>
                </a:solidFill>
                <a:latin typeface="Arial"/>
              </a:rPr>
              <a:t>Reviewers approving unchanged versus rewriting is recorded as a quality signal.</a:t>
            </a:r>
          </a:p>
        </p:txBody>
      </p:sp>
      <p:sp>
        <p:nvSpPr>
          <p:cNvPr id="11" name="TextBox 10"/>
          <p:cNvSpPr txBox="1"/>
          <p:nvPr/>
        </p:nvSpPr>
        <p:spPr>
          <a:xfrm>
            <a:off x="822960" y="5120640"/>
            <a:ext cx="10515600" cy="822960"/>
          </a:xfrm>
          <a:prstGeom prst="rect">
            <a:avLst/>
          </a:prstGeom>
          <a:noFill/>
        </p:spPr>
        <p:txBody>
          <a:bodyPr wrap="square" lIns="0" rIns="0" tIns="0" bIns="0">
            <a:spAutoFit/>
          </a:bodyPr>
          <a:lstStyle/>
          <a:p>
            <a:pPr>
              <a:lnSpc>
                <a:spcPct val="115000"/>
              </a:lnSpc>
            </a:pPr>
            <a:r>
              <a:rPr sz="1600" b="0">
                <a:solidFill>
                  <a:srgbClr val="BFD0DC"/>
                </a:solidFill>
                <a:latin typeface="Arial"/>
              </a:rPr>
              <a:t>Uses a self-hosted viewer (Arize Phoenix) on your own machine. Open standard (OpenTelemetry), so other tools can be connected.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17695F"/>
                </a:solidFill>
                <a:latin typeface="Arial"/>
              </a:rPr>
              <a:t>HONEST STATUS</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10202F"/>
                </a:solidFill>
                <a:latin typeface="Arial"/>
              </a:rPr>
              <a:t>What is proven and what is not yet</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6A7179"/>
                </a:solidFill>
                <a:latin typeface="Arial"/>
              </a:rPr>
              <a:t>AI Email Agent · 10</a:t>
            </a:r>
          </a:p>
        </p:txBody>
      </p:sp>
      <p:sp>
        <p:nvSpPr>
          <p:cNvPr id="5" name="Rounded Rectangle 4"/>
          <p:cNvSpPr/>
          <p:nvPr/>
        </p:nvSpPr>
        <p:spPr>
          <a:xfrm>
            <a:off x="822960" y="2286000"/>
            <a:ext cx="5166360" cy="3566160"/>
          </a:xfrm>
          <a:prstGeom prst="roundRect">
            <a:avLst>
              <a:gd name="adj" fmla="val 6000"/>
            </a:avLst>
          </a:prstGeom>
          <a:solidFill>
            <a:srgbClr val="FFFFFF"/>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560320"/>
            <a:ext cx="4572000" cy="3108960"/>
          </a:xfrm>
          <a:prstGeom prst="rect">
            <a:avLst/>
          </a:prstGeom>
          <a:noFill/>
        </p:spPr>
        <p:txBody>
          <a:bodyPr wrap="square" lIns="0" rIns="0" tIns="0" bIns="0">
            <a:spAutoFit/>
          </a:bodyPr>
          <a:lstStyle/>
          <a:p>
            <a:pPr>
              <a:lnSpc>
                <a:spcPct val="115000"/>
              </a:lnSpc>
            </a:pPr>
            <a:r>
              <a:rPr sz="2600" b="1">
                <a:solidFill>
                  <a:srgbClr val="17695F"/>
                </a:solidFill>
                <a:latin typeface="Arial"/>
              </a:rPr>
              <a:t>Proven</a:t>
            </a:r>
          </a:p>
          <a:p>
            <a:pPr>
              <a:lnSpc>
                <a:spcPct val="115000"/>
              </a:lnSpc>
              <a:spcBef>
                <a:spcPts val="1400"/>
              </a:spcBef>
            </a:pPr>
            <a:r>
              <a:rPr sz="1800" b="0">
                <a:solidFill>
                  <a:srgbClr val="10202F"/>
                </a:solidFill>
                <a:latin typeface="Arial"/>
              </a:rPr>
              <a:t>•  The full flow works end to end with a real mailbox</a:t>
            </a:r>
          </a:p>
          <a:p>
            <a:pPr>
              <a:lnSpc>
                <a:spcPct val="115000"/>
              </a:lnSpc>
              <a:spcBef>
                <a:spcPts val="1000"/>
              </a:spcBef>
            </a:pPr>
            <a:r>
              <a:rPr sz="1800" b="0">
                <a:solidFill>
                  <a:srgbClr val="10202F"/>
                </a:solidFill>
                <a:latin typeface="Arial"/>
              </a:rPr>
              <a:t>•  130 automated tests pass</a:t>
            </a:r>
          </a:p>
          <a:p>
            <a:pPr>
              <a:lnSpc>
                <a:spcPct val="115000"/>
              </a:lnSpc>
              <a:spcBef>
                <a:spcPts val="1000"/>
              </a:spcBef>
            </a:pPr>
            <a:r>
              <a:rPr sz="1800" b="0">
                <a:solidFill>
                  <a:srgbClr val="10202F"/>
                </a:solidFill>
                <a:latin typeface="Arial"/>
              </a:rPr>
              <a:t>•  Speed and capacity are measured</a:t>
            </a:r>
          </a:p>
          <a:p>
            <a:pPr>
              <a:lnSpc>
                <a:spcPct val="115000"/>
              </a:lnSpc>
              <a:spcBef>
                <a:spcPts val="1000"/>
              </a:spcBef>
            </a:pPr>
            <a:r>
              <a:rPr sz="1800" b="0">
                <a:solidFill>
                  <a:srgbClr val="10202F"/>
                </a:solidFill>
                <a:latin typeface="Arial"/>
              </a:rPr>
              <a:t>•  Human approval, masking and hand-off are built in</a:t>
            </a:r>
          </a:p>
        </p:txBody>
      </p:sp>
      <p:sp>
        <p:nvSpPr>
          <p:cNvPr id="7" name="Rounded Rectangle 6"/>
          <p:cNvSpPr/>
          <p:nvPr/>
        </p:nvSpPr>
        <p:spPr>
          <a:xfrm>
            <a:off x="6217920" y="2286000"/>
            <a:ext cx="5166360" cy="3566160"/>
          </a:xfrm>
          <a:prstGeom prst="roundRect">
            <a:avLst>
              <a:gd name="adj" fmla="val 6000"/>
            </a:avLst>
          </a:prstGeom>
          <a:solidFill>
            <a:srgbClr val="FFFFFF"/>
          </a:solidFill>
          <a:ln w="28575">
            <a:solidFill>
              <a:srgbClr val="9A5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560320"/>
            <a:ext cx="4572000" cy="3108960"/>
          </a:xfrm>
          <a:prstGeom prst="rect">
            <a:avLst/>
          </a:prstGeom>
          <a:noFill/>
        </p:spPr>
        <p:txBody>
          <a:bodyPr wrap="square" lIns="0" rIns="0" tIns="0" bIns="0">
            <a:spAutoFit/>
          </a:bodyPr>
          <a:lstStyle/>
          <a:p>
            <a:pPr>
              <a:lnSpc>
                <a:spcPct val="115000"/>
              </a:lnSpc>
            </a:pPr>
            <a:r>
              <a:rPr sz="2600" b="1">
                <a:solidFill>
                  <a:srgbClr val="9A5B00"/>
                </a:solidFill>
                <a:latin typeface="Arial"/>
              </a:rPr>
              <a:t>Not yet proven</a:t>
            </a:r>
          </a:p>
          <a:p>
            <a:pPr>
              <a:lnSpc>
                <a:spcPct val="115000"/>
              </a:lnSpc>
              <a:spcBef>
                <a:spcPts val="1400"/>
              </a:spcBef>
            </a:pPr>
            <a:r>
              <a:rPr sz="1800" b="0">
                <a:solidFill>
                  <a:srgbClr val="10202F"/>
                </a:solidFill>
                <a:latin typeface="Arial"/>
              </a:rPr>
              <a:t>•  Accuracy on your real customer emails is not measured</a:t>
            </a:r>
          </a:p>
          <a:p>
            <a:pPr>
              <a:lnSpc>
                <a:spcPct val="115000"/>
              </a:lnSpc>
              <a:spcBef>
                <a:spcPts val="1000"/>
              </a:spcBef>
            </a:pPr>
            <a:r>
              <a:rPr sz="1800" b="0">
                <a:solidFill>
                  <a:srgbClr val="10202F"/>
                </a:solidFill>
                <a:latin typeface="Arial"/>
              </a:rPr>
              <a:t>•  Banking data is simulated, not your live systems</a:t>
            </a:r>
          </a:p>
          <a:p>
            <a:pPr>
              <a:lnSpc>
                <a:spcPct val="115000"/>
              </a:lnSpc>
              <a:spcBef>
                <a:spcPts val="1000"/>
              </a:spcBef>
            </a:pPr>
            <a:r>
              <a:rPr sz="1800" b="0">
                <a:solidFill>
                  <a:srgbClr val="10202F"/>
                </a:solidFill>
                <a:latin typeface="Arial"/>
              </a:rPr>
              <a:t>•  Small local model: it can misread unusual wording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02F"/>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5FD0C0"/>
                </a:solidFill>
                <a:latin typeface="Arial"/>
              </a:rPr>
              <a:t>PROPOSED PATH</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F5F3EE"/>
                </a:solidFill>
                <a:latin typeface="Arial"/>
              </a:rPr>
              <a:t>Pilot first, then connect, then scale</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8FA5B5"/>
                </a:solidFill>
                <a:latin typeface="Arial"/>
              </a:rPr>
              <a:t>AI Email Agent · 11</a:t>
            </a:r>
          </a:p>
        </p:txBody>
      </p:sp>
      <p:sp>
        <p:nvSpPr>
          <p:cNvPr id="5" name="Rounded Rectangle 4"/>
          <p:cNvSpPr/>
          <p:nvPr/>
        </p:nvSpPr>
        <p:spPr>
          <a:xfrm>
            <a:off x="822960" y="2377440"/>
            <a:ext cx="2468880" cy="265176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651760"/>
            <a:ext cx="1920240" cy="2103120"/>
          </a:xfrm>
          <a:prstGeom prst="rect">
            <a:avLst/>
          </a:prstGeom>
          <a:noFill/>
        </p:spPr>
        <p:txBody>
          <a:bodyPr wrap="square" lIns="0" rIns="0" tIns="0" bIns="0">
            <a:spAutoFit/>
          </a:bodyPr>
          <a:lstStyle/>
          <a:p>
            <a:pPr>
              <a:lnSpc>
                <a:spcPct val="115000"/>
              </a:lnSpc>
            </a:pPr>
            <a:r>
              <a:rPr sz="2400" b="1">
                <a:solidFill>
                  <a:srgbClr val="F5F3EE"/>
                </a:solidFill>
                <a:latin typeface="Arial"/>
              </a:rPr>
              <a:t>1  Pilot</a:t>
            </a:r>
          </a:p>
          <a:p>
            <a:pPr>
              <a:lnSpc>
                <a:spcPct val="115000"/>
              </a:lnSpc>
              <a:spcBef>
                <a:spcPts val="1000"/>
              </a:spcBef>
            </a:pPr>
            <a:r>
              <a:rPr sz="1600" b="0">
                <a:solidFill>
                  <a:srgbClr val="BFD0DC"/>
                </a:solidFill>
                <a:latin typeface="Arial"/>
              </a:rPr>
              <a:t>A small inbox, reviewers on every draft.</a:t>
            </a:r>
          </a:p>
        </p:txBody>
      </p:sp>
      <p:sp>
        <p:nvSpPr>
          <p:cNvPr id="7" name="Rounded Rectangle 6"/>
          <p:cNvSpPr/>
          <p:nvPr/>
        </p:nvSpPr>
        <p:spPr>
          <a:xfrm>
            <a:off x="3520440" y="2377440"/>
            <a:ext cx="2468880" cy="265176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60" y="2651760"/>
            <a:ext cx="1920240" cy="2103120"/>
          </a:xfrm>
          <a:prstGeom prst="rect">
            <a:avLst/>
          </a:prstGeom>
          <a:noFill/>
        </p:spPr>
        <p:txBody>
          <a:bodyPr wrap="square" lIns="0" rIns="0" tIns="0" bIns="0">
            <a:spAutoFit/>
          </a:bodyPr>
          <a:lstStyle/>
          <a:p>
            <a:pPr>
              <a:lnSpc>
                <a:spcPct val="115000"/>
              </a:lnSpc>
            </a:pPr>
            <a:r>
              <a:rPr sz="2400" b="1">
                <a:solidFill>
                  <a:srgbClr val="F5F3EE"/>
                </a:solidFill>
                <a:latin typeface="Arial"/>
              </a:rPr>
              <a:t>2  Measure</a:t>
            </a:r>
          </a:p>
          <a:p>
            <a:pPr>
              <a:lnSpc>
                <a:spcPct val="115000"/>
              </a:lnSpc>
              <a:spcBef>
                <a:spcPts val="1000"/>
              </a:spcBef>
            </a:pPr>
            <a:r>
              <a:rPr sz="1600" b="0">
                <a:solidFill>
                  <a:srgbClr val="BFD0DC"/>
                </a:solidFill>
                <a:latin typeface="Arial"/>
              </a:rPr>
              <a:t>Test on labelled past emails. Agree an accuracy target.</a:t>
            </a:r>
          </a:p>
        </p:txBody>
      </p:sp>
      <p:sp>
        <p:nvSpPr>
          <p:cNvPr id="9" name="Rounded Rectangle 8"/>
          <p:cNvSpPr/>
          <p:nvPr/>
        </p:nvSpPr>
        <p:spPr>
          <a:xfrm>
            <a:off x="6217920" y="2377440"/>
            <a:ext cx="2468880" cy="265176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651760"/>
            <a:ext cx="1920240" cy="2103120"/>
          </a:xfrm>
          <a:prstGeom prst="rect">
            <a:avLst/>
          </a:prstGeom>
          <a:noFill/>
        </p:spPr>
        <p:txBody>
          <a:bodyPr wrap="square" lIns="0" rIns="0" tIns="0" bIns="0">
            <a:spAutoFit/>
          </a:bodyPr>
          <a:lstStyle/>
          <a:p>
            <a:pPr>
              <a:lnSpc>
                <a:spcPct val="115000"/>
              </a:lnSpc>
            </a:pPr>
            <a:r>
              <a:rPr sz="2400" b="1">
                <a:solidFill>
                  <a:srgbClr val="F5F3EE"/>
                </a:solidFill>
                <a:latin typeface="Arial"/>
              </a:rPr>
              <a:t>3  Connect</a:t>
            </a:r>
          </a:p>
          <a:p>
            <a:pPr>
              <a:lnSpc>
                <a:spcPct val="115000"/>
              </a:lnSpc>
              <a:spcBef>
                <a:spcPts val="1000"/>
              </a:spcBef>
            </a:pPr>
            <a:r>
              <a:rPr sz="1600" b="0">
                <a:solidFill>
                  <a:srgbClr val="BFD0DC"/>
                </a:solidFill>
                <a:latin typeface="Arial"/>
              </a:rPr>
              <a:t>Real banking APIs, staff sign-in, a production database.</a:t>
            </a:r>
          </a:p>
        </p:txBody>
      </p:sp>
      <p:sp>
        <p:nvSpPr>
          <p:cNvPr id="11" name="Rounded Rectangle 10"/>
          <p:cNvSpPr/>
          <p:nvPr/>
        </p:nvSpPr>
        <p:spPr>
          <a:xfrm>
            <a:off x="8915400" y="2377440"/>
            <a:ext cx="2468880" cy="2651760"/>
          </a:xfrm>
          <a:prstGeom prst="roundRect">
            <a:avLst>
              <a:gd name="adj" fmla="val 6000"/>
            </a:avLst>
          </a:prstGeom>
          <a:solidFill>
            <a:srgbClr val="1A30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89720" y="2651760"/>
            <a:ext cx="1920240" cy="2103120"/>
          </a:xfrm>
          <a:prstGeom prst="rect">
            <a:avLst/>
          </a:prstGeom>
          <a:noFill/>
        </p:spPr>
        <p:txBody>
          <a:bodyPr wrap="square" lIns="0" rIns="0" tIns="0" bIns="0">
            <a:spAutoFit/>
          </a:bodyPr>
          <a:lstStyle/>
          <a:p>
            <a:pPr>
              <a:lnSpc>
                <a:spcPct val="115000"/>
              </a:lnSpc>
            </a:pPr>
            <a:r>
              <a:rPr sz="2400" b="1">
                <a:solidFill>
                  <a:srgbClr val="F5F3EE"/>
                </a:solidFill>
                <a:latin typeface="Arial"/>
              </a:rPr>
              <a:t>4  Scale</a:t>
            </a:r>
          </a:p>
          <a:p>
            <a:pPr>
              <a:lnSpc>
                <a:spcPct val="115000"/>
              </a:lnSpc>
              <a:spcBef>
                <a:spcPts val="1000"/>
              </a:spcBef>
            </a:pPr>
            <a:r>
              <a:rPr sz="1600" b="0">
                <a:solidFill>
                  <a:srgbClr val="BFD0DC"/>
                </a:solidFill>
                <a:latin typeface="Arial"/>
              </a:rPr>
              <a:t>GPU or larger model, alerts, more request types.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lIns="0" rIns="0" tIns="0" bIns="0">
            <a:spAutoFit/>
          </a:bodyPr>
          <a:lstStyle/>
          <a:p>
            <a:pPr>
              <a:lnSpc>
                <a:spcPct val="115000"/>
              </a:lnSpc>
            </a:pPr>
            <a:r>
              <a:rPr sz="1300" b="1">
                <a:solidFill>
                  <a:srgbClr val="17695F"/>
                </a:solidFill>
                <a:latin typeface="Arial"/>
              </a:rPr>
              <a:t>WHAT WE NEED FROM YOU</a:t>
            </a:r>
          </a:p>
        </p:txBody>
      </p:sp>
      <p:sp>
        <p:nvSpPr>
          <p:cNvPr id="3" name="TextBox 2"/>
          <p:cNvSpPr txBox="1"/>
          <p:nvPr/>
        </p:nvSpPr>
        <p:spPr>
          <a:xfrm>
            <a:off x="822960" y="1005840"/>
            <a:ext cx="10515600" cy="1097280"/>
          </a:xfrm>
          <a:prstGeom prst="rect">
            <a:avLst/>
          </a:prstGeom>
          <a:noFill/>
        </p:spPr>
        <p:txBody>
          <a:bodyPr wrap="square" lIns="0" rIns="0" tIns="0" bIns="0">
            <a:spAutoFit/>
          </a:bodyPr>
          <a:lstStyle/>
          <a:p>
            <a:pPr>
              <a:lnSpc>
                <a:spcPct val="105000"/>
              </a:lnSpc>
            </a:pPr>
            <a:r>
              <a:rPr sz="3800" b="1">
                <a:solidFill>
                  <a:srgbClr val="10202F"/>
                </a:solidFill>
                <a:latin typeface="Arial"/>
              </a:rPr>
              <a:t>Five things to start the pilot</a:t>
            </a:r>
          </a:p>
        </p:txBody>
      </p:sp>
      <p:sp>
        <p:nvSpPr>
          <p:cNvPr id="4" name="TextBox 3"/>
          <p:cNvSpPr txBox="1"/>
          <p:nvPr/>
        </p:nvSpPr>
        <p:spPr>
          <a:xfrm>
            <a:off x="822960" y="6355080"/>
            <a:ext cx="5486400" cy="274320"/>
          </a:xfrm>
          <a:prstGeom prst="rect">
            <a:avLst/>
          </a:prstGeom>
          <a:noFill/>
        </p:spPr>
        <p:txBody>
          <a:bodyPr wrap="square" lIns="0" rIns="0" tIns="0" bIns="0">
            <a:spAutoFit/>
          </a:bodyPr>
          <a:lstStyle/>
          <a:p>
            <a:pPr>
              <a:lnSpc>
                <a:spcPct val="115000"/>
              </a:lnSpc>
            </a:pPr>
            <a:r>
              <a:rPr sz="1200" b="0">
                <a:solidFill>
                  <a:srgbClr val="6A7179"/>
                </a:solidFill>
                <a:latin typeface="Arial"/>
              </a:rPr>
              <a:t>AI Email Agent · 12</a:t>
            </a:r>
          </a:p>
        </p:txBody>
      </p:sp>
      <p:sp>
        <p:nvSpPr>
          <p:cNvPr id="5" name="TextBox 4"/>
          <p:cNvSpPr txBox="1"/>
          <p:nvPr/>
        </p:nvSpPr>
        <p:spPr>
          <a:xfrm>
            <a:off x="822960" y="2286000"/>
            <a:ext cx="10515600" cy="2926080"/>
          </a:xfrm>
          <a:prstGeom prst="rect">
            <a:avLst/>
          </a:prstGeom>
          <a:noFill/>
        </p:spPr>
        <p:txBody>
          <a:bodyPr wrap="square" lIns="0" rIns="0" tIns="0" bIns="0">
            <a:spAutoFit/>
          </a:bodyPr>
          <a:lstStyle/>
          <a:p>
            <a:pPr>
              <a:lnSpc>
                <a:spcPct val="115000"/>
              </a:lnSpc>
            </a:pPr>
            <a:r>
              <a:rPr sz="2400" b="0">
                <a:solidFill>
                  <a:srgbClr val="10202F"/>
                </a:solidFill>
                <a:latin typeface="Arial"/>
              </a:rPr>
              <a:t>1.  A sample of past customer emails, anonymised</a:t>
            </a:r>
          </a:p>
          <a:p>
            <a:pPr>
              <a:lnSpc>
                <a:spcPct val="115000"/>
              </a:lnSpc>
              <a:spcBef>
                <a:spcPts val="1400"/>
              </a:spcBef>
            </a:pPr>
            <a:r>
              <a:rPr sz="2400" b="0">
                <a:solidFill>
                  <a:srgbClr val="10202F"/>
                </a:solidFill>
                <a:latin typeface="Arial"/>
              </a:rPr>
              <a:t>2.  Access to the banking API specifications</a:t>
            </a:r>
          </a:p>
          <a:p>
            <a:pPr>
              <a:lnSpc>
                <a:spcPct val="115000"/>
              </a:lnSpc>
              <a:spcBef>
                <a:spcPts val="1400"/>
              </a:spcBef>
            </a:pPr>
            <a:r>
              <a:rPr sz="2400" b="0">
                <a:solidFill>
                  <a:srgbClr val="10202F"/>
                </a:solidFill>
                <a:latin typeface="Arial"/>
              </a:rPr>
              <a:t>3.  Named reviewers to approve drafts</a:t>
            </a:r>
          </a:p>
          <a:p>
            <a:pPr>
              <a:lnSpc>
                <a:spcPct val="115000"/>
              </a:lnSpc>
              <a:spcBef>
                <a:spcPts val="1400"/>
              </a:spcBef>
            </a:pPr>
            <a:r>
              <a:rPr sz="2400" b="0">
                <a:solidFill>
                  <a:srgbClr val="10202F"/>
                </a:solidFill>
                <a:latin typeface="Arial"/>
              </a:rPr>
              <a:t>4.  A decision on where it may run and who may see the data</a:t>
            </a:r>
          </a:p>
          <a:p>
            <a:pPr>
              <a:lnSpc>
                <a:spcPct val="115000"/>
              </a:lnSpc>
              <a:spcBef>
                <a:spcPts val="1400"/>
              </a:spcBef>
            </a:pPr>
            <a:r>
              <a:rPr sz="2400" b="0">
                <a:solidFill>
                  <a:srgbClr val="10202F"/>
                </a:solidFill>
                <a:latin typeface="Arial"/>
              </a:rPr>
              <a:t>5.  What “good enough” means: your accuracy target</a:t>
            </a:r>
          </a:p>
        </p:txBody>
      </p:sp>
      <p:sp>
        <p:nvSpPr>
          <p:cNvPr id="6" name="TextBox 5"/>
          <p:cNvSpPr txBox="1"/>
          <p:nvPr/>
        </p:nvSpPr>
        <p:spPr>
          <a:xfrm>
            <a:off x="822960" y="5486400"/>
            <a:ext cx="5486400" cy="548640"/>
          </a:xfrm>
          <a:prstGeom prst="rect">
            <a:avLst/>
          </a:prstGeom>
          <a:noFill/>
        </p:spPr>
        <p:txBody>
          <a:bodyPr wrap="square" lIns="0" rIns="0" tIns="0" bIns="0">
            <a:spAutoFit/>
          </a:bodyPr>
          <a:lstStyle/>
          <a:p>
            <a:pPr>
              <a:lnSpc>
                <a:spcPct val="115000"/>
              </a:lnSpc>
            </a:pPr>
            <a:r>
              <a:rPr sz="3000" b="1">
                <a:solidFill>
                  <a:srgbClr val="17695F"/>
                </a:solidFill>
                <a:latin typeface="Arial"/>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